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0" b="1">
                <a:solidFill>
                  <a:srgbClr val="F4F7F9"/>
                </a:solidFill>
                <a:latin typeface="Tajawal"/>
              </a:rPr>
              <a:t>TenderPilot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600" b="0">
                <a:solidFill>
                  <a:srgbClr val="D9B36A"/>
                </a:solidFill>
                <a:latin typeface="Tajawal"/>
              </a:rPr>
              <a:t>موظف المناقصات الحكومية الذكي — لكل شركة في الخليج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9DB2BF"/>
                </a:solidFill>
                <a:latin typeface="Tajawal"/>
              </a:rPr>
              <a:t>AI-Native Government Tendering Platform  ·  Built for Saudi Vision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9DB2BF"/>
                </a:solidFill>
                <a:latin typeface="Tajawal"/>
              </a:rPr>
              <a:t>Investor Pitch Deck  ·  Series Seed → Series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02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المشكلة ·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سوق ضخم + عملية بدائية = فرص ضائعة بالمليارات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881360" cy="310896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101498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0">
                <a:solidFill>
                  <a:srgbClr val="F4F7F9"/>
                </a:solidFill>
                <a:latin typeface="Tajawal"/>
              </a:rPr>
              <a:t>اكتشاف يدوي: الشركات لا تتابع آلاف المنافسات في اعتماد والجهات.  </a:t>
            </a:r>
            <a:r>
              <a:rPr sz="1900" b="1">
                <a:solidFill>
                  <a:srgbClr val="E06B6B"/>
                </a:solidFill>
                <a:latin typeface="Tajawal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44952"/>
            <a:ext cx="101498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0">
                <a:solidFill>
                  <a:srgbClr val="F4F7F9"/>
                </a:solidFill>
                <a:latin typeface="Tajawal"/>
              </a:rPr>
              <a:t>إعداد بطيء: العرض الفني يستغرق 2–6 أسابيع من فريق مكلف.  </a:t>
            </a:r>
            <a:r>
              <a:rPr sz="1900" b="1">
                <a:solidFill>
                  <a:srgbClr val="E06B6B"/>
                </a:solidFill>
                <a:latin typeface="Tajawal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8184"/>
            <a:ext cx="101498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0">
                <a:solidFill>
                  <a:srgbClr val="F4F7F9"/>
                </a:solidFill>
                <a:latin typeface="Tajawal"/>
              </a:rPr>
              <a:t>استبعاد شكلي: نسبة كبيرة من العروض تُرفض لأسباب امتثالية يمكن منعها.  </a:t>
            </a:r>
            <a:r>
              <a:rPr sz="1900" b="1">
                <a:solidFill>
                  <a:srgbClr val="E06B6B"/>
                </a:solidFill>
                <a:latin typeface="Tajawal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71416"/>
            <a:ext cx="101498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0">
                <a:solidFill>
                  <a:srgbClr val="F4F7F9"/>
                </a:solidFill>
                <a:latin typeface="Tajawal"/>
              </a:rPr>
              <a:t>قرار أعمى: لا أداة تحسب احتمالية الفوز قبل صرف الجهد.  </a:t>
            </a:r>
            <a:r>
              <a:rPr sz="1900" b="1">
                <a:solidFill>
                  <a:srgbClr val="E06B6B"/>
                </a:solidFill>
                <a:latin typeface="Tajawal"/>
              </a:rPr>
              <a:t>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03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لماذا الآن · 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التقاء نادر بين الطلب والتقنية والتنظيم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606040" cy="27432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2606040" cy="109728"/>
          </a:xfrm>
          <a:prstGeom prst="roundRect">
            <a:avLst/>
          </a:prstGeom>
          <a:solidFill>
            <a:srgbClr val="3FC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280" y="2468880"/>
            <a:ext cx="26060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رؤية 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80" y="3200400"/>
            <a:ext cx="245364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إنفاق حكومي/شبه حكومي تاريخي ورقمنة المشتريات عبر اعتماد.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2194560"/>
            <a:ext cx="2606040" cy="27432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0712" y="2194560"/>
            <a:ext cx="2606040" cy="109728"/>
          </a:xfrm>
          <a:prstGeom prst="roundRect">
            <a:avLst/>
          </a:prstGeom>
          <a:solidFill>
            <a:srgbClr val="3FC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6912" y="2468880"/>
            <a:ext cx="26060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نضج وكلاء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6912" y="3200400"/>
            <a:ext cx="245364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قدرة على الاستدلال على وثائق عربية طويلة ومعقّدة.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194560"/>
            <a:ext cx="2606040" cy="27432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4" y="2194560"/>
            <a:ext cx="2606040" cy="109728"/>
          </a:xfrm>
          <a:prstGeom prst="roundRect">
            <a:avLst/>
          </a:prstGeom>
          <a:solidFill>
            <a:srgbClr val="3FC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2468880"/>
            <a:ext cx="26060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تنظيم محفّز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7544" y="3200400"/>
            <a:ext cx="245364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PDPL ودفع نحو المحتوى المحلي والرقمنة.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2194560"/>
            <a:ext cx="2606040" cy="27432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51976" y="2194560"/>
            <a:ext cx="2606040" cy="109728"/>
          </a:xfrm>
          <a:prstGeom prst="roundRect">
            <a:avLst/>
          </a:prstGeom>
          <a:solidFill>
            <a:srgbClr val="3FC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8176" y="2468880"/>
            <a:ext cx="26060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فجوة سوقية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8176" y="3200400"/>
            <a:ext cx="245364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لا لاعب SaaS متخصص بمستوى Enterprise إقليمياً.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04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الحل · 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منصة AI واحدة تغطي رحلة المناقصة من الاكتشاف حتى التسليم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1452880" cy="9144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452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4F7F9"/>
                </a:solidFill>
                <a:latin typeface="Tajawal"/>
              </a:rPr>
              <a:t>اكتشاف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2286000"/>
            <a:ext cx="1452880" cy="9144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2468880"/>
            <a:ext cx="1452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4F7F9"/>
                </a:solidFill>
                <a:latin typeface="Tajawal"/>
              </a:rPr>
              <a:t>تأهيل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2286000"/>
            <a:ext cx="1452880" cy="9144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468880"/>
            <a:ext cx="1452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4F7F9"/>
                </a:solidFill>
                <a:latin typeface="Tajawal"/>
              </a:rPr>
              <a:t>تحليل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286000"/>
            <a:ext cx="1452880" cy="9144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468880"/>
            <a:ext cx="1452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4F7F9"/>
                </a:solidFill>
                <a:latin typeface="Tajawal"/>
              </a:rPr>
              <a:t>كتابة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286000"/>
            <a:ext cx="1452880" cy="9144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468880"/>
            <a:ext cx="1452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4F7F9"/>
                </a:solidFill>
                <a:latin typeface="Tajawal"/>
              </a:rPr>
              <a:t>قرار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286000"/>
            <a:ext cx="1452880" cy="9144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468880"/>
            <a:ext cx="1452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4F7F9"/>
                </a:solidFill>
                <a:latin typeface="Tajawal"/>
              </a:rPr>
              <a:t>عقد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2286000"/>
            <a:ext cx="1452880" cy="9144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2468880"/>
            <a:ext cx="1452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4F7F9"/>
                </a:solidFill>
                <a:latin typeface="Tajawal"/>
              </a:rPr>
              <a:t>تسليم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49039"/>
            <a:ext cx="10881360" cy="146304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>
                <a:solidFill>
                  <a:srgbClr val="D9B36A"/>
                </a:solidFill>
                <a:latin typeface="Tajawal"/>
              </a:rPr>
              <a:t>ثماني وحدات أساسية مدعومة بالذكاء الاصطناعي: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34840"/>
            <a:ext cx="103327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4F7F9"/>
                </a:solidFill>
                <a:latin typeface="Tajawal"/>
              </a:rPr>
              <a:t>Discovery · Opportunity Matching · Tender Analyzer · Bid Writer · Competitor Intelligence · Win Probability · Contract Intelligence · Delivery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>
                <a:solidFill>
                  <a:srgbClr val="9DB2BF"/>
                </a:solidFill>
                <a:latin typeface="Tajawal"/>
              </a:rPr>
              <a:t>ليست ميزة AI مضافة — بل نظام تشغيل كامل لقسم تطوير الأعمال.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05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العرض الحي ·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من كراسة شروط إلى عرض احترافي في ساعات لا أسابيع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3502152" cy="310896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3502152" cy="548640"/>
          </a:xfrm>
          <a:prstGeom prst="round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50215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700" b="1">
                <a:solidFill>
                  <a:srgbClr val="D9B36A"/>
                </a:solidFill>
                <a:latin typeface="Tajawal"/>
              </a:rPr>
              <a:t>1 · رفع الكراسة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680" y="3017520"/>
            <a:ext cx="3298952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>
                <a:solidFill>
                  <a:srgbClr val="F4F7F9"/>
                </a:solidFill>
                <a:latin typeface="Tajawal"/>
              </a:rPr>
              <a:t>استخراج المتطلبات والمخاطر تلقائياً + Opportunity Score من 0–100.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194560"/>
            <a:ext cx="3502152" cy="310896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2194560"/>
            <a:ext cx="3502152" cy="548640"/>
          </a:xfrm>
          <a:prstGeom prst="round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2286000"/>
            <a:ext cx="350215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700" b="1">
                <a:solidFill>
                  <a:srgbClr val="D9B36A"/>
                </a:solidFill>
                <a:latin typeface="Tajawal"/>
              </a:rPr>
              <a:t>2 · احتمالية الفوز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6712" y="3017520"/>
            <a:ext cx="3298952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>
                <a:solidFill>
                  <a:srgbClr val="F4F7F9"/>
                </a:solidFill>
                <a:latin typeface="Tajawal"/>
              </a:rPr>
              <a:t>Win Probability % مع تفسير شفّاف لكل العوامل المؤثرة.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194560"/>
            <a:ext cx="3502152" cy="310896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0144" y="2194560"/>
            <a:ext cx="3502152" cy="548640"/>
          </a:xfrm>
          <a:prstGeom prst="round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2286000"/>
            <a:ext cx="350215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700" b="1">
                <a:solidFill>
                  <a:srgbClr val="D9B36A"/>
                </a:solidFill>
                <a:latin typeface="Tajawal"/>
              </a:rPr>
              <a:t>3 · بناء العرض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1744" y="3017520"/>
            <a:ext cx="3298952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>
                <a:solidFill>
                  <a:srgbClr val="F4F7F9"/>
                </a:solidFill>
                <a:latin typeface="Tajawal"/>
              </a:rPr>
              <a:t>Proposal Builder يولّد العرض الفني مع فحص امتثال فوري.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06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حجم السوق · MARKET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سوق كبير وقابل للتوسّع الخليجي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1828799"/>
            <a:ext cx="3840480" cy="3840480"/>
          </a:xfrm>
          <a:prstGeom prst="ellipse">
            <a:avLst/>
          </a:prstGeom>
          <a:solidFill>
            <a:srgbClr val="122E3D"/>
          </a:solidFill>
          <a:ln w="19050">
            <a:solidFill>
              <a:srgbClr val="D9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54480" y="2377439"/>
            <a:ext cx="2743200" cy="2743200"/>
          </a:xfrm>
          <a:prstGeom prst="ellipse">
            <a:avLst/>
          </a:prstGeom>
          <a:solidFill>
            <a:srgbClr val="0B1F2A"/>
          </a:solidFill>
          <a:ln w="19050">
            <a:solidFill>
              <a:srgbClr val="D9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03120" y="2926079"/>
            <a:ext cx="1645920" cy="1645920"/>
          </a:xfrm>
          <a:prstGeom prst="ellipse">
            <a:avLst/>
          </a:prstGeom>
          <a:solidFill>
            <a:srgbClr val="3FC1B0"/>
          </a:solidFill>
          <a:ln w="19050">
            <a:solidFill>
              <a:srgbClr val="D9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194560"/>
            <a:ext cx="54864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F4F7F9"/>
                </a:solidFill>
                <a:latin typeface="Tajawal"/>
              </a:rPr>
              <a:t>+250,000 منشأة موردة للحكومات في الخليج</a:t>
            </a:r>
            <a:r>
              <a:rPr sz="2000" b="1">
                <a:solidFill>
                  <a:srgbClr val="D9B36A"/>
                </a:solidFill>
                <a:latin typeface="Tajawal"/>
              </a:rPr>
              <a:t>   TAM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246120"/>
            <a:ext cx="54864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F4F7F9"/>
                </a:solidFill>
                <a:latin typeface="Tajawal"/>
              </a:rPr>
              <a:t>40,000–60,000 منشأة سعودية نشطة في المناقصات</a:t>
            </a:r>
            <a:r>
              <a:rPr sz="2000" b="1">
                <a:solidFill>
                  <a:srgbClr val="D9B36A"/>
                </a:solidFill>
                <a:latin typeface="Tajawal"/>
              </a:rPr>
              <a:t>   SAM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297679"/>
            <a:ext cx="54864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F4F7F9"/>
                </a:solidFill>
                <a:latin typeface="Tajawal"/>
              </a:rPr>
              <a:t>2,500–4,000 عميل مدفوع خلال 3 سنوات</a:t>
            </a:r>
            <a:r>
              <a:rPr sz="2000" b="1">
                <a:solidFill>
                  <a:srgbClr val="D9B36A"/>
                </a:solidFill>
                <a:latin typeface="Tajawal"/>
              </a:rPr>
              <a:t>   SOM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07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المنتج · MULTI-AGENT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تسعة وكلاء متخصصين يعملون كفريق مناقصات كامل</a:t>
            </a:r>
          </a:p>
        </p:txBody>
      </p:sp>
      <p:sp>
        <p:nvSpPr>
          <p:cNvPr id="8" name="Oval 7"/>
          <p:cNvSpPr/>
          <p:nvPr/>
        </p:nvSpPr>
        <p:spPr>
          <a:xfrm>
            <a:off x="5175504" y="3200400"/>
            <a:ext cx="1828800" cy="1280160"/>
          </a:xfrm>
          <a:prstGeom prst="ellipse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5504" y="3520440"/>
            <a:ext cx="1828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B1F2A"/>
                </a:solidFill>
                <a:latin typeface="Tajawal"/>
              </a:rPr>
              <a:t>Orchestrator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12664" y="1719072"/>
            <a:ext cx="1554480" cy="585216"/>
          </a:xfrm>
          <a:prstGeom prst="roundRect">
            <a:avLst/>
          </a:prstGeom>
          <a:solidFill>
            <a:srgbClr val="122E3D"/>
          </a:solidFill>
          <a:ln w="12700">
            <a:solidFill>
              <a:srgbClr val="3FC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2664" y="1792224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4F7F9"/>
                </a:solidFill>
                <a:latin typeface="Tajawal"/>
              </a:rPr>
              <a:t>Scout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98829" y="2146929"/>
            <a:ext cx="1554480" cy="585216"/>
          </a:xfrm>
          <a:prstGeom prst="roundRect">
            <a:avLst/>
          </a:prstGeom>
          <a:solidFill>
            <a:srgbClr val="122E3D"/>
          </a:solidFill>
          <a:ln w="12700">
            <a:solidFill>
              <a:srgbClr val="3FC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8829" y="2220081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4F7F9"/>
                </a:solidFill>
                <a:latin typeface="Tajawal"/>
              </a:rPr>
              <a:t>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4900" y="3230304"/>
            <a:ext cx="1554480" cy="585216"/>
          </a:xfrm>
          <a:prstGeom prst="roundRect">
            <a:avLst/>
          </a:prstGeom>
          <a:solidFill>
            <a:srgbClr val="122E3D"/>
          </a:solidFill>
          <a:ln w="12700">
            <a:solidFill>
              <a:srgbClr val="3FC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4900" y="3303456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4F7F9"/>
                </a:solidFill>
                <a:latin typeface="Tajawal"/>
              </a:rPr>
              <a:t>Proposal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96995" y="4462272"/>
            <a:ext cx="1554480" cy="585216"/>
          </a:xfrm>
          <a:prstGeom prst="roundRect">
            <a:avLst/>
          </a:prstGeom>
          <a:solidFill>
            <a:srgbClr val="122E3D"/>
          </a:solidFill>
          <a:ln w="12700">
            <a:solidFill>
              <a:srgbClr val="3FC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96995" y="4535424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4F7F9"/>
                </a:solidFill>
                <a:latin typeface="Tajawal"/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88734" y="5266381"/>
            <a:ext cx="1554480" cy="585216"/>
          </a:xfrm>
          <a:prstGeom prst="roundRect">
            <a:avLst/>
          </a:prstGeom>
          <a:solidFill>
            <a:srgbClr val="122E3D"/>
          </a:solidFill>
          <a:ln w="12700">
            <a:solidFill>
              <a:srgbClr val="3FC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88734" y="5339533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4F7F9"/>
                </a:solidFill>
                <a:latin typeface="Tajawal"/>
              </a:rPr>
              <a:t>Pricing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6593" y="5266381"/>
            <a:ext cx="1554480" cy="585216"/>
          </a:xfrm>
          <a:prstGeom prst="roundRect">
            <a:avLst/>
          </a:prstGeom>
          <a:solidFill>
            <a:srgbClr val="122E3D"/>
          </a:solidFill>
          <a:ln w="12700">
            <a:solidFill>
              <a:srgbClr val="3FC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6593" y="5339533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4F7F9"/>
                </a:solidFill>
                <a:latin typeface="Tajawal"/>
              </a:rPr>
              <a:t>Compliance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332" y="4462272"/>
            <a:ext cx="1554480" cy="585216"/>
          </a:xfrm>
          <a:prstGeom prst="roundRect">
            <a:avLst/>
          </a:prstGeom>
          <a:solidFill>
            <a:srgbClr val="122E3D"/>
          </a:solidFill>
          <a:ln w="12700">
            <a:solidFill>
              <a:srgbClr val="3FC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332" y="4535424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4F7F9"/>
                </a:solidFill>
                <a:latin typeface="Tajawal"/>
              </a:rPr>
              <a:t>Competitor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50427" y="3230304"/>
            <a:ext cx="1554480" cy="585216"/>
          </a:xfrm>
          <a:prstGeom prst="roundRect">
            <a:avLst/>
          </a:prstGeom>
          <a:solidFill>
            <a:srgbClr val="122E3D"/>
          </a:solidFill>
          <a:ln w="12700">
            <a:solidFill>
              <a:srgbClr val="3FC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50427" y="3303456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4F7F9"/>
                </a:solidFill>
                <a:latin typeface="Tajawal"/>
              </a:rPr>
              <a:t>Contract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26498" y="2146929"/>
            <a:ext cx="1554480" cy="585216"/>
          </a:xfrm>
          <a:prstGeom prst="roundRect">
            <a:avLst/>
          </a:prstGeom>
          <a:solidFill>
            <a:srgbClr val="122E3D"/>
          </a:solidFill>
          <a:ln w="12700">
            <a:solidFill>
              <a:srgbClr val="3FC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6498" y="2220081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4F7F9"/>
                </a:solidFill>
                <a:latin typeface="Tajawal"/>
              </a:rPr>
              <a:t>Executive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08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الخندق الدفاعي · THE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ميزة تتعمّق مع الوقت — صعبة التقليد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5349240" cy="123444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79592" y="2194560"/>
            <a:ext cx="109728" cy="1234440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680" y="2296160"/>
            <a:ext cx="5095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Data Moat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680" y="2743200"/>
            <a:ext cx="5095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قاعدة معرفة للترسيات والمنافسين تكبر كل يوم.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94560"/>
            <a:ext cx="5349240" cy="123444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11712" y="2194560"/>
            <a:ext cx="109728" cy="1234440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3800" y="2296160"/>
            <a:ext cx="5095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Compliance Moat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3800" y="2743200"/>
            <a:ext cx="5095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محرك امتثال مُحدّث وفق الأنظمة الحكومية.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5349240" cy="123444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79592" y="3611880"/>
            <a:ext cx="109728" cy="1234440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680" y="3713480"/>
            <a:ext cx="5095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Workflow Lock-in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680" y="4160520"/>
            <a:ext cx="5095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المنصة تصبح نظام التشغيل اليومي لتطوير الأعمال.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11880"/>
            <a:ext cx="5349240" cy="123444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11712" y="3611880"/>
            <a:ext cx="109728" cy="1234440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3800" y="3713480"/>
            <a:ext cx="5095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Integration Moat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3800" y="4160520"/>
            <a:ext cx="5095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تكامل اعتماد + ERP/CRM للعميل.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09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الجر والتحقق · 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قيمة مُثبتة لا وعود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2606040" cy="237744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6060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9B36A"/>
                </a:solidFill>
                <a:latin typeface="Tajawal"/>
              </a:rPr>
              <a:t>Pilots &amp; Logos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26060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تجارب وعملاء أوائل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286000"/>
            <a:ext cx="2606040" cy="237744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2651760"/>
            <a:ext cx="26060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9B36A"/>
                </a:solidFill>
                <a:latin typeface="Tajawal"/>
              </a:rPr>
              <a:t>Win-rate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3474720"/>
            <a:ext cx="26060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زيادة % في معدل الفوز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286000"/>
            <a:ext cx="2606040" cy="237744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2651760"/>
            <a:ext cx="26060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9B36A"/>
                </a:solidFill>
                <a:latin typeface="Tajawal"/>
              </a:rPr>
              <a:t>Time-to-Proposal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3474720"/>
            <a:ext cx="26060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من أسابيع → ساعات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2286000"/>
            <a:ext cx="2606040" cy="237744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1976" y="2651760"/>
            <a:ext cx="26060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9B36A"/>
                </a:solidFill>
                <a:latin typeface="Tajawal"/>
              </a:rPr>
              <a:t>Pipeline / LOIs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1976" y="3474720"/>
            <a:ext cx="26060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خط أنابيب مبيعات نشط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9DB2BF"/>
                </a:solidFill>
                <a:latin typeface="Tajawal"/>
              </a:rPr>
              <a:t>تُحدّث هذه الشريحة بأرقامك الفعلية (Pilots / LOIs / نتائج win-rate).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10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نموذج العمل · 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اشتراك + استهلاك AI = إيراد متكرر عالي الهامش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606040" cy="292608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2606040" cy="640080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B1F2A"/>
                </a:solidFill>
                <a:latin typeface="Tajawal"/>
              </a:rPr>
              <a:t>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26060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9DB2BF"/>
                </a:solidFill>
                <a:latin typeface="Tajawal"/>
              </a:rPr>
              <a:t>شركات صغيرة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26060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9K–15K ريال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2194560"/>
            <a:ext cx="2606040" cy="292608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0712" y="2194560"/>
            <a:ext cx="2606040" cy="640080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228600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B1F2A"/>
                </a:solidFill>
                <a:latin typeface="Tajawal"/>
              </a:rPr>
              <a:t>Professional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3108960"/>
            <a:ext cx="26060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9DB2BF"/>
                </a:solidFill>
                <a:latin typeface="Tajawal"/>
              </a:rPr>
              <a:t>متوسطة / مقاولون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4114800"/>
            <a:ext cx="26060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30K–60K ريال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194560"/>
            <a:ext cx="2606040" cy="292608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1344" y="2194560"/>
            <a:ext cx="2606040" cy="640080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228600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B1F2A"/>
                </a:solidFill>
                <a:latin typeface="Tajawal"/>
              </a:rPr>
              <a:t>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108960"/>
            <a:ext cx="26060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9DB2BF"/>
                </a:solidFill>
                <a:latin typeface="Tajawal"/>
              </a:rPr>
              <a:t>كبيرة / استشارات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4114800"/>
            <a:ext cx="26060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120K–400K+ ريال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1976" y="2194560"/>
            <a:ext cx="2606040" cy="292608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51976" y="2194560"/>
            <a:ext cx="2606040" cy="640080"/>
          </a:xfrm>
          <a:prstGeom prst="roundRect">
            <a:avLst/>
          </a:prstGeom>
          <a:solidFill>
            <a:srgbClr val="3FC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1976" y="228600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B1F2A"/>
                </a:solidFill>
                <a:latin typeface="Tajawal"/>
              </a:rPr>
              <a:t>Government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1976" y="3108960"/>
            <a:ext cx="26060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9DB2BF"/>
                </a:solidFill>
                <a:latin typeface="Tajawal"/>
              </a:rPr>
              <a:t>جهات حكومية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1976" y="4114800"/>
            <a:ext cx="26060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تعاقدي مخصّص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9DB2BF"/>
                </a:solidFill>
                <a:latin typeface="Tajawal"/>
              </a:rPr>
              <a:t>Land عبر Starter/Pro ثم Expand داخل المؤسسة نحو Enterprise/Government.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11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الذهاب للسوق · GTM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ثلاث محركات نمو متكاملة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0881360" cy="86868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296160"/>
            <a:ext cx="2560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Product-Led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21560"/>
            <a:ext cx="76809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F4F7F9"/>
                </a:solidFill>
                <a:latin typeface="Tajawal"/>
              </a:rPr>
              <a:t>تجربة ذاتية + SEO عربي + محتوى تعليمي يجذب الشركات الصغيرة والمتوسطة.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10881360" cy="86868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3347720"/>
            <a:ext cx="2560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Sales-Led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73120"/>
            <a:ext cx="76809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F4F7F9"/>
                </a:solidFill>
                <a:latin typeface="Tajawal"/>
              </a:rPr>
              <a:t>Inside + Field sales للـ Enterprise/Gov عبر POCs وعلاقات الجهات.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79"/>
            <a:ext cx="10881360" cy="86868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4399279"/>
            <a:ext cx="25603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Partner-Led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24679"/>
            <a:ext cx="76809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F4F7F9"/>
                </a:solidFill>
                <a:latin typeface="Tajawal"/>
              </a:rPr>
              <a:t>غرف تجارية، حاضنات، شركاء ERP، ومكاتب استشارية كقنوات توزيع.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9DB2BF"/>
                </a:solidFill>
                <a:latin typeface="Tajawal"/>
              </a:rPr>
              <a:t>التقارير السوقية الربع سنوية = جذب أعلى القمع + تعزيز للعلامة.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12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المنافسة · COMPETITIVE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نملأ فراغاً لا يخدمه أحد بعمق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011680"/>
            <a:ext cx="4572000" cy="384048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59029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DB2BF"/>
                </a:solidFill>
                <a:latin typeface="Tajawal"/>
              </a:rPr>
              <a:t>قوة الذكاء الاصطناعي 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80492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>
                <a:solidFill>
                  <a:srgbClr val="9DB2BF"/>
                </a:solidFill>
                <a:latin typeface="Tajawal"/>
              </a:rPr>
              <a:t>العمق التخصصي ←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0" y="2468880"/>
            <a:ext cx="822960" cy="822960"/>
          </a:xfrm>
          <a:prstGeom prst="ellipse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333756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D9B36A"/>
                </a:solidFill>
                <a:latin typeface="Tajawal"/>
              </a:rPr>
              <a:t>TenderPilot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32918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4F7F9"/>
                </a:solidFill>
                <a:latin typeface="Tajawal"/>
              </a:rPr>
              <a:t>مكاتب استشارية: بطيئة ومكلفة  </a:t>
            </a:r>
            <a:r>
              <a:rPr sz="1300" b="1">
                <a:solidFill>
                  <a:srgbClr val="E06B6B"/>
                </a:solidFill>
                <a:latin typeface="Tajawal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32918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4F7F9"/>
                </a:solidFill>
                <a:latin typeface="Tajawal"/>
              </a:rPr>
              <a:t>تنبيهات بدائية: بلا تحليل  </a:t>
            </a:r>
            <a:r>
              <a:rPr sz="1300" b="1">
                <a:solidFill>
                  <a:srgbClr val="E06B6B"/>
                </a:solidFill>
                <a:latin typeface="Tajawal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32918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4F7F9"/>
                </a:solidFill>
                <a:latin typeface="Tajawal"/>
              </a:rPr>
              <a:t>فرق داخلية + Word/Excel  </a:t>
            </a:r>
            <a:r>
              <a:rPr sz="1300" b="1">
                <a:solidFill>
                  <a:srgbClr val="E06B6B"/>
                </a:solidFill>
                <a:latin typeface="Tajawal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32918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4F7F9"/>
                </a:solidFill>
                <a:latin typeface="Tajawal"/>
              </a:rPr>
              <a:t>أدوات أجنبية عامة: لا تفهم اعتماد/العربية/الامتثال  </a:t>
            </a:r>
            <a:r>
              <a:rPr sz="1300" b="1">
                <a:solidFill>
                  <a:srgbClr val="E06B6B"/>
                </a:solidFill>
                <a:latin typeface="Tajawal"/>
              </a:rPr>
              <a:t>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13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المعمارية والأمن ·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مبنية لثقة المؤسسات والحكومة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10881360" cy="713232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3FC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2113280"/>
            <a:ext cx="2743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D9B36A"/>
                </a:solidFill>
                <a:latin typeface="Tajawal"/>
              </a:rPr>
              <a:t>Web App (Next.js)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38680"/>
            <a:ext cx="7680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4F7F9"/>
                </a:solidFill>
                <a:latin typeface="Tajawal"/>
              </a:rPr>
              <a:t>واجهة عربية أولاً · RTL · Dark/Light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52928"/>
            <a:ext cx="10881360" cy="713232"/>
          </a:xfrm>
          <a:prstGeom prst="roundRect">
            <a:avLst/>
          </a:prstGeom>
          <a:solidFill>
            <a:srgbClr val="122E3D"/>
          </a:solidFill>
          <a:ln w="12700">
            <a:solidFill>
              <a:srgbClr val="3FC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954528"/>
            <a:ext cx="2743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D9B36A"/>
                </a:solidFill>
                <a:latin typeface="Tajawal"/>
              </a:rPr>
              <a:t>Agent 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9928"/>
            <a:ext cx="7680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4F7F9"/>
                </a:solidFill>
                <a:latin typeface="Tajawal"/>
              </a:rPr>
              <a:t>LangGraph / Semantic Kernel + Human-in-the-Loop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94176"/>
            <a:ext cx="10881360" cy="713232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3FC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795776"/>
            <a:ext cx="2743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D9B36A"/>
                </a:solidFill>
                <a:latin typeface="Tajawal"/>
              </a:rPr>
              <a:t>RAG + LLM 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21176"/>
            <a:ext cx="7680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4F7F9"/>
                </a:solidFill>
                <a:latin typeface="Tajawal"/>
              </a:rPr>
              <a:t>Azure AI Search (Hybrid) + Citations إلزامية · توجيه ذكي للتكلفة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35424"/>
            <a:ext cx="10881360" cy="713232"/>
          </a:xfrm>
          <a:prstGeom prst="roundRect">
            <a:avLst/>
          </a:prstGeom>
          <a:solidFill>
            <a:srgbClr val="122E3D"/>
          </a:solidFill>
          <a:ln w="12700">
            <a:solidFill>
              <a:srgbClr val="3FC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4637024"/>
            <a:ext cx="2743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D9B36A"/>
                </a:solidFill>
                <a:latin typeface="Tajawal"/>
              </a:rPr>
              <a:t>Data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62424"/>
            <a:ext cx="7680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4F7F9"/>
                </a:solidFill>
                <a:latin typeface="Tajawal"/>
              </a:rPr>
              <a:t>ADLS Gen2 (Medallion) · PostgreSQL · Vector Store · Purview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76672"/>
            <a:ext cx="10881360" cy="713232"/>
          </a:xfrm>
          <a:prstGeom prst="roundRect">
            <a:avLst/>
          </a:prstGeom>
          <a:solidFill>
            <a:srgbClr val="0B1F2A"/>
          </a:solidFill>
          <a:ln w="12700">
            <a:solidFill>
              <a:srgbClr val="3FC1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5478272"/>
            <a:ext cx="2743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D9B36A"/>
                </a:solidFill>
                <a:latin typeface="Tajawal"/>
              </a:rPr>
              <a:t>Azure (KSA Region)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03672"/>
            <a:ext cx="7680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>
                <a:solidFill>
                  <a:srgbClr val="F4F7F9"/>
                </a:solidFill>
                <a:latin typeface="Tajawal"/>
              </a:rPr>
              <a:t>Multi-tenant · HA/DR · توطين بيانات سيادي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14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الامتثال · COMPLIANCE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الامتثال ميزة بيع لا عبء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606040" cy="1188720"/>
          </a:xfrm>
          <a:prstGeom prst="roundRect">
            <a:avLst/>
          </a:prstGeom>
          <a:solidFill>
            <a:srgbClr val="122E3D"/>
          </a:solidFill>
          <a:ln w="12700">
            <a:solidFill>
              <a:srgbClr val="D9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PDPL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194560"/>
            <a:ext cx="2606040" cy="1188720"/>
          </a:xfrm>
          <a:prstGeom prst="roundRect">
            <a:avLst/>
          </a:prstGeom>
          <a:solidFill>
            <a:srgbClr val="122E3D"/>
          </a:solidFill>
          <a:ln w="12700">
            <a:solidFill>
              <a:srgbClr val="D9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260604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ISO/IEC 27001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194560"/>
            <a:ext cx="2606040" cy="1188720"/>
          </a:xfrm>
          <a:prstGeom prst="roundRect">
            <a:avLst/>
          </a:prstGeom>
          <a:solidFill>
            <a:srgbClr val="122E3D"/>
          </a:solidFill>
          <a:ln w="12700">
            <a:solidFill>
              <a:srgbClr val="D9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260604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NCA ECC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1976" y="2194560"/>
            <a:ext cx="2606040" cy="1188720"/>
          </a:xfrm>
          <a:prstGeom prst="roundRect">
            <a:avLst/>
          </a:prstGeom>
          <a:solidFill>
            <a:srgbClr val="122E3D"/>
          </a:solidFill>
          <a:ln w="12700">
            <a:solidFill>
              <a:srgbClr val="D9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1976" y="2606040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D9B36A"/>
                </a:solidFill>
                <a:latin typeface="Tajawal"/>
              </a:rPr>
              <a:t>SAMA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>
                <a:solidFill>
                  <a:srgbClr val="F4F7F9"/>
                </a:solidFill>
                <a:latin typeface="Tajawal"/>
              </a:rPr>
              <a:t>خيار No-training على بيانات العميل · عزل Multi-tenant صارم  </a:t>
            </a:r>
            <a:r>
              <a:rPr sz="1600" b="1">
                <a:solidFill>
                  <a:srgbClr val="3FC1B0"/>
                </a:solidFill>
                <a:latin typeface="Tajawal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>
                <a:solidFill>
                  <a:srgbClr val="F4F7F9"/>
                </a:solidFill>
                <a:latin typeface="Tajawal"/>
              </a:rPr>
              <a:t>SSO / RBAC / MFA · تشفير AES-256 و TLS 1.2+ · Key Vault (HSM)  </a:t>
            </a:r>
            <a:r>
              <a:rPr sz="1600" b="1">
                <a:solidFill>
                  <a:srgbClr val="3FC1B0"/>
                </a:solidFill>
                <a:latin typeface="Tajawal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>
                <a:solidFill>
                  <a:srgbClr val="F4F7F9"/>
                </a:solidFill>
                <a:latin typeface="Tajawal"/>
              </a:rPr>
              <a:t>Audit Log غير قابل للتعديل · SIEM (Sentinel) · اختبارات اختراق دورية  </a:t>
            </a:r>
            <a:r>
              <a:rPr sz="1600" b="1">
                <a:solidFill>
                  <a:srgbClr val="3FC1B0"/>
                </a:solidFill>
                <a:latin typeface="Tajawal"/>
              </a:rPr>
              <a:t>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15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خارطة الطريق ·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من المنتج إلى المنصة الإقليمية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3502152" cy="27432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3502152" cy="640080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50215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0B1F2A"/>
                </a:solidFill>
                <a:latin typeface="Tajawal"/>
              </a:rPr>
              <a:t>سنة 1 ·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680" y="3291840"/>
            <a:ext cx="3298952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Discovery · Tender Analyzer · Bid Writer · Opportunity Score · تكامل اعتماد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377440"/>
            <a:ext cx="3502152" cy="27432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2377440"/>
            <a:ext cx="3502152" cy="640080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2468880"/>
            <a:ext cx="350215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0B1F2A"/>
                </a:solidFill>
                <a:latin typeface="Tajawal"/>
              </a:rPr>
              <a:t>سنة 2 ·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6712" y="3291840"/>
            <a:ext cx="3298952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Win Probability (ML) · Competitor · Contract · Compliance · Enterprise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377440"/>
            <a:ext cx="3502152" cy="27432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0144" y="2377440"/>
            <a:ext cx="3502152" cy="640080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2468880"/>
            <a:ext cx="350215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0B1F2A"/>
                </a:solidFill>
                <a:latin typeface="Tajawal"/>
              </a:rPr>
              <a:t>سنة 3 · Platform &amp; Region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1744" y="3291840"/>
            <a:ext cx="3298952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API/Marketplace · Market Intelligence · توسّع GCC (UAE/Qatar)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16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النموذج المالي · FINANCIALS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مسار واضح إلى ARR بمئات الملايين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258632"/>
            <a:ext cx="1280160" cy="4488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892872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4F7F9"/>
                </a:solidFill>
                <a:latin typeface="Tajawal"/>
              </a:rPr>
              <a:t>3.6M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54320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>
                <a:solidFill>
                  <a:srgbClr val="9DB2BF"/>
                </a:solidFill>
                <a:latin typeface="Tajawal"/>
              </a:rPr>
              <a:t>سنة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5090299"/>
            <a:ext cx="1280160" cy="213221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4724539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4F7F9"/>
                </a:solidFill>
                <a:latin typeface="Tajawal"/>
              </a:rPr>
              <a:t>17.1M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354320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>
                <a:solidFill>
                  <a:srgbClr val="9DB2BF"/>
                </a:solidFill>
                <a:latin typeface="Tajawal"/>
              </a:rPr>
              <a:t>سنة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686300"/>
            <a:ext cx="1280160" cy="617220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4320540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4F7F9"/>
                </a:solidFill>
                <a:latin typeface="Tajawal"/>
              </a:rPr>
              <a:t>49.5M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5354320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>
                <a:solidFill>
                  <a:srgbClr val="9DB2BF"/>
                </a:solidFill>
                <a:latin typeface="Tajawal"/>
              </a:rPr>
              <a:t>سنة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882044"/>
            <a:ext cx="1280160" cy="1421476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516284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4F7F9"/>
                </a:solidFill>
                <a:latin typeface="Tajawal"/>
              </a:rPr>
              <a:t>114M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354320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>
                <a:solidFill>
                  <a:srgbClr val="9DB2BF"/>
                </a:solidFill>
                <a:latin typeface="Tajawal"/>
              </a:rPr>
              <a:t>سنة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560320"/>
            <a:ext cx="1280160" cy="2743200"/>
          </a:xfrm>
          <a:prstGeom prst="roundRect">
            <a:avLst/>
          </a:prstGeom>
          <a:solidFill>
            <a:srgbClr val="4C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2194560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4F7F9"/>
                </a:solidFill>
                <a:latin typeface="Tajawal"/>
              </a:rPr>
              <a:t>220M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5354320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>
                <a:solidFill>
                  <a:srgbClr val="9DB2BF"/>
                </a:solidFill>
                <a:latin typeface="Tajawal"/>
              </a:rPr>
              <a:t>سنة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182880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>
                <a:solidFill>
                  <a:srgbClr val="3FC1B0"/>
                </a:solidFill>
                <a:latin typeface="Tajawal"/>
              </a:rPr>
              <a:t>ARR (مليون ريال) · Gross Margin 62% → 82% · EBITDA إيجابي في السنة الخامسة (+17M)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17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اقتصاد الوحدة · UNIT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نمو فعّال رأسمالياً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3383280" cy="27432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3383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9DB2BF"/>
                </a:solidFill>
                <a:latin typeface="Tajawal"/>
              </a:rPr>
              <a:t>LTV / CAC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33832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D9B36A"/>
                </a:solidFill>
                <a:latin typeface="Tajawal"/>
              </a:rPr>
              <a:t>4.3x → 19x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3383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(سنة 1 → سنة 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377440"/>
            <a:ext cx="3383280" cy="27432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3383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9DB2BF"/>
                </a:solidFill>
                <a:latin typeface="Tajawal"/>
              </a:rPr>
              <a:t>NRR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383280"/>
            <a:ext cx="33832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D9B36A"/>
                </a:solidFill>
                <a:latin typeface="Tajawal"/>
              </a:rPr>
              <a:t>115–125%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389120"/>
            <a:ext cx="3383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صافي احتفاظ الإيراد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377440"/>
            <a:ext cx="3383280" cy="27432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651760"/>
            <a:ext cx="3383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9DB2BF"/>
                </a:solidFill>
                <a:latin typeface="Tajawal"/>
              </a:rPr>
              <a:t>Gross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383280"/>
            <a:ext cx="33832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D9B36A"/>
                </a:solidFill>
                <a:latin typeface="Tajawal"/>
              </a:rPr>
              <a:t>حتى 82%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389120"/>
            <a:ext cx="3383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>
                <a:solidFill>
                  <a:srgbClr val="F4F7F9"/>
                </a:solidFill>
                <a:latin typeface="Tajawal"/>
              </a:rPr>
              <a:t>في السنة الخامسة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18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الفريق ·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خبرة مدمجة: منتج + AI + سوق حكومي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2606040" cy="27432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0180" y="2560320"/>
            <a:ext cx="1005840" cy="1005840"/>
          </a:xfrm>
          <a:prstGeom prst="ellipse">
            <a:avLst/>
          </a:prstGeom>
          <a:solidFill>
            <a:srgbClr val="0B1F2A"/>
          </a:solidFill>
          <a:ln w="19050">
            <a:solidFill>
              <a:srgbClr val="D9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700" b="1">
                <a:solidFill>
                  <a:srgbClr val="D9B36A"/>
                </a:solidFill>
                <a:latin typeface="Tajawal"/>
              </a:rPr>
              <a:t>المؤسسون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680" y="4297680"/>
            <a:ext cx="24028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>
                <a:solidFill>
                  <a:srgbClr val="F4F7F9"/>
                </a:solidFill>
                <a:latin typeface="Tajawal"/>
              </a:rPr>
              <a:t>رؤية المنتج وخبرة السوق الحكومي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2286000"/>
            <a:ext cx="2606040" cy="27432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10812" y="2560320"/>
            <a:ext cx="1005840" cy="1005840"/>
          </a:xfrm>
          <a:prstGeom prst="ellipse">
            <a:avLst/>
          </a:prstGeom>
          <a:solidFill>
            <a:srgbClr val="0B1F2A"/>
          </a:solidFill>
          <a:ln w="19050">
            <a:solidFill>
              <a:srgbClr val="D9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3749039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700" b="1">
                <a:solidFill>
                  <a:srgbClr val="D9B36A"/>
                </a:solidFill>
                <a:latin typeface="Tajawal"/>
              </a:rPr>
              <a:t>Product &amp;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2312" y="4297680"/>
            <a:ext cx="24028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>
                <a:solidFill>
                  <a:srgbClr val="F4F7F9"/>
                </a:solidFill>
                <a:latin typeface="Tajawal"/>
              </a:rPr>
              <a:t>بناء المنصة والوكلاء ونماذج التنبؤ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286000"/>
            <a:ext cx="2606040" cy="27432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81444" y="2560320"/>
            <a:ext cx="1005840" cy="1005840"/>
          </a:xfrm>
          <a:prstGeom prst="ellipse">
            <a:avLst/>
          </a:prstGeom>
          <a:solidFill>
            <a:srgbClr val="0B1F2A"/>
          </a:solidFill>
          <a:ln w="19050">
            <a:solidFill>
              <a:srgbClr val="D9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3749039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700" b="1">
                <a:solidFill>
                  <a:srgbClr val="D9B36A"/>
                </a:solidFill>
                <a:latin typeface="Tajawal"/>
              </a:rPr>
              <a:t>GTM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2944" y="4297680"/>
            <a:ext cx="24028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>
                <a:solidFill>
                  <a:srgbClr val="F4F7F9"/>
                </a:solidFill>
                <a:latin typeface="Tajawal"/>
              </a:rPr>
              <a:t>مبيعات وشراكات وتطوير أعمال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2286000"/>
            <a:ext cx="2606040" cy="274320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52076" y="2560320"/>
            <a:ext cx="1005840" cy="1005840"/>
          </a:xfrm>
          <a:prstGeom prst="ellipse">
            <a:avLst/>
          </a:prstGeom>
          <a:solidFill>
            <a:srgbClr val="0B1F2A"/>
          </a:solidFill>
          <a:ln w="19050">
            <a:solidFill>
              <a:srgbClr val="D9B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1976" y="3749039"/>
            <a:ext cx="2606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700" b="1">
                <a:solidFill>
                  <a:srgbClr val="D9B36A"/>
                </a:solidFill>
                <a:latin typeface="Tajawal"/>
              </a:rPr>
              <a:t>مستشارون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3576" y="4297680"/>
            <a:ext cx="24028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>
                <a:solidFill>
                  <a:srgbClr val="F4F7F9"/>
                </a:solidFill>
                <a:latin typeface="Tajawal"/>
              </a:rPr>
              <a:t>خبرة مشتريات حكومية / اعتماد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19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502920"/>
            <a:ext cx="502920" cy="109728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411480"/>
            <a:ext cx="6400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D9B36A"/>
                </a:solidFill>
                <a:latin typeface="Tajawal"/>
              </a:rPr>
              <a:t>الطلب الاستثماري · 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"/>
            <a:ext cx="7315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4F7F9"/>
                </a:solidFill>
                <a:latin typeface="Tajawal"/>
              </a:rPr>
              <a:t>تمويل لتسريع الريادة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5303520" cy="301752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937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>
                <a:solidFill>
                  <a:srgbClr val="D9B36A"/>
                </a:solidFill>
                <a:latin typeface="Tajawal"/>
              </a:rPr>
              <a:t>الجولة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49377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3400" b="1">
                <a:solidFill>
                  <a:srgbClr val="F4F7F9"/>
                </a:solidFill>
                <a:latin typeface="Tajawal"/>
              </a:rPr>
              <a:t>8M ريال</a:t>
            </a:r>
            <a:r>
              <a:rPr sz="1800" b="0">
                <a:solidFill>
                  <a:srgbClr val="D9B36A"/>
                </a:solidFill>
                <a:latin typeface="Tajawal"/>
              </a:rPr>
              <a:t>  Seed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4937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9DB2BF"/>
                </a:solidFill>
                <a:latin typeface="Tajawal"/>
              </a:rPr>
              <a:t>ثم Series A: 40–55M ريال للتوسّع والتعمّق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4937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F4F7F9"/>
                </a:solidFill>
                <a:latin typeface="Tajawal"/>
              </a:rPr>
              <a:t>بناء المنتج + أول 100–150 عميل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5303520" cy="301752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4937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>
                <a:solidFill>
                  <a:srgbClr val="D9B36A"/>
                </a:solidFill>
                <a:latin typeface="Tajawal"/>
              </a:rPr>
              <a:t>استخدام الأموال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926080"/>
            <a:ext cx="4937760" cy="457200"/>
          </a:xfrm>
          <a:prstGeom prst="round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69680" y="2926080"/>
            <a:ext cx="2468880" cy="457200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976880"/>
            <a:ext cx="47548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0B1F2A"/>
                </a:solidFill>
                <a:latin typeface="Tajawal"/>
              </a:rPr>
              <a:t>50%   </a:t>
            </a:r>
            <a:r>
              <a:rPr sz="1400" b="1">
                <a:solidFill>
                  <a:srgbClr val="0B1F2A"/>
                </a:solidFill>
                <a:latin typeface="Tajawal"/>
              </a:rPr>
              <a:t>منتج /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566160"/>
            <a:ext cx="4937760" cy="457200"/>
          </a:xfrm>
          <a:prstGeom prst="round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10344" y="3566160"/>
            <a:ext cx="1728216" cy="457200"/>
          </a:xfrm>
          <a:prstGeom prst="roundRect">
            <a:avLst/>
          </a:prstGeom>
          <a:solidFill>
            <a:srgbClr val="3FC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16960"/>
            <a:ext cx="47548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0B1F2A"/>
                </a:solidFill>
                <a:latin typeface="Tajawal"/>
              </a:rPr>
              <a:t>35%   </a:t>
            </a:r>
            <a:r>
              <a:rPr sz="1400" b="1">
                <a:solidFill>
                  <a:srgbClr val="0B1F2A"/>
                </a:solidFill>
                <a:latin typeface="Tajawal"/>
              </a:rPr>
              <a:t>مبيعات وتسويق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206240"/>
            <a:ext cx="4937760" cy="457200"/>
          </a:xfrm>
          <a:prstGeom prst="round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597896" y="4206240"/>
            <a:ext cx="740664" cy="457200"/>
          </a:xfrm>
          <a:prstGeom prst="roundRect">
            <a:avLst/>
          </a:prstGeom>
          <a:solidFill>
            <a:srgbClr val="4C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57040"/>
            <a:ext cx="47548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0B1F2A"/>
                </a:solidFill>
                <a:latin typeface="Tajawal"/>
              </a:rPr>
              <a:t>15%   </a:t>
            </a:r>
            <a:r>
              <a:rPr sz="1400" b="1">
                <a:solidFill>
                  <a:srgbClr val="0B1F2A"/>
                </a:solidFill>
                <a:latin typeface="Tajawal"/>
              </a:rPr>
              <a:t>امتثال / عمليات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00"/>
            <a:ext cx="1097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DB2BF"/>
                </a:solidFill>
                <a:latin typeface="Tajawal"/>
              </a:rPr>
              <a:t>20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D9B36A"/>
                </a:solidFill>
                <a:latin typeface="Tajawal"/>
              </a:rPr>
              <a:t>TenderPilot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D9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D9B36A"/>
                </a:solidFill>
                <a:latin typeface="Tajawal"/>
              </a:rPr>
              <a:t>الرؤية والخروج · VISION &amp;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3800" b="1">
                <a:solidFill>
                  <a:srgbClr val="F4F7F9"/>
                </a:solidFill>
                <a:latin typeface="Tajawal"/>
              </a:rPr>
              <a:t>نظام تشغيل المناقصات للخليج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>
                <a:solidFill>
                  <a:srgbClr val="3FC1B0"/>
                </a:solidFill>
                <a:latin typeface="Tajawal"/>
              </a:rPr>
              <a:t>كل شركة في GCC تدير مناقصاتها عبر TenderPilot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931920"/>
            <a:ext cx="7589520" cy="1188720"/>
          </a:xfrm>
          <a:prstGeom prst="roundRect">
            <a:avLst/>
          </a:prstGeom>
          <a:solidFill>
            <a:srgbClr val="12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4114800"/>
            <a:ext cx="7223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>
                <a:solidFill>
                  <a:srgbClr val="F4F7F9"/>
                </a:solidFill>
                <a:latin typeface="Tajawal"/>
              </a:rPr>
              <a:t>Exit: استحواذ استراتيجي (SaaS/ERP عالمي · مجموعة تقنية حكومية · استشارات كبرى) أو IPO إقليمي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617720"/>
            <a:ext cx="7223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D9B36A"/>
                </a:solidFill>
                <a:latin typeface="Tajawal"/>
              </a:rPr>
              <a:t>التقييم المستهدف سنة 5: 1.1–1.3 مليار ريال (5–6x ARR)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4F7F9"/>
                </a:solidFill>
                <a:latin typeface="Tajawal"/>
              </a:rPr>
              <a:t>Let's build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